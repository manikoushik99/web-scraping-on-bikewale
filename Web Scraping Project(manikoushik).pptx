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0" r:id="rId3"/>
    <p:sldId id="261" r:id="rId4"/>
    <p:sldId id="281" r:id="rId5"/>
    <p:sldId id="263" r:id="rId6"/>
    <p:sldId id="265" r:id="rId7"/>
    <p:sldId id="264" r:id="rId8"/>
    <p:sldId id="266" r:id="rId9"/>
    <p:sldId id="282" r:id="rId10"/>
    <p:sldId id="267" r:id="rId11"/>
    <p:sldId id="300" r:id="rId12"/>
    <p:sldId id="301" r:id="rId13"/>
    <p:sldId id="302" r:id="rId14"/>
    <p:sldId id="303" r:id="rId15"/>
    <p:sldId id="295" r:id="rId16"/>
    <p:sldId id="276" r:id="rId17"/>
    <p:sldId id="297" r:id="rId18"/>
    <p:sldId id="298" r:id="rId19"/>
    <p:sldId id="25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374" autoAdjust="0"/>
  </p:normalViewPr>
  <p:slideViewPr>
    <p:cSldViewPr snapToGrid="0">
      <p:cViewPr>
        <p:scale>
          <a:sx n="66" d="100"/>
          <a:sy n="66" d="100"/>
        </p:scale>
        <p:origin x="1373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ikoushik99" TargetMode="External"/><Relationship Id="rId2" Type="http://schemas.openxmlformats.org/officeDocument/2006/relationships/hyperlink" Target="http://www.linkedin.com/in/manikoushik-kuragayala-64aa81280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4" y="4860435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Bikes 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Bikewale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ikeWale- Bikes &amp; Two Wheelers - Apps on Google Play">
            <a:extLst>
              <a:ext uri="{FF2B5EF4-FFF2-40B4-BE49-F238E27FC236}">
                <a16:creationId xmlns:a16="http://schemas.microsoft.com/office/drawing/2014/main" id="{D57D5D2D-81A7-E1E8-5CA9-D39F09D66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565" y="298973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330411"/>
          </a:xfrm>
        </p:spPr>
        <p:txBody>
          <a:bodyPr>
            <a:norm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b="1" dirty="0" err="1"/>
              <a:t>Manikoushik</a:t>
            </a:r>
            <a:r>
              <a:rPr lang="en-IN" sz="2000" b="1" dirty="0"/>
              <a:t> </a:t>
            </a:r>
            <a:r>
              <a:rPr lang="en-IN" sz="2000" b="1" dirty="0" err="1"/>
              <a:t>Kuragayala</a:t>
            </a:r>
            <a:endParaRPr lang="en-IN" sz="2000" b="1" dirty="0"/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dirty="0"/>
              <a:t>Student passionate about </a:t>
            </a:r>
            <a:r>
              <a:rPr lang="en-IN" sz="2000" b="1" dirty="0"/>
              <a:t>Data Analytics, Web Scraping, and Visualization</a:t>
            </a:r>
            <a:r>
              <a:rPr lang="en-IN" sz="2000" dirty="0"/>
              <a:t>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dirty="0"/>
              <a:t>Exploring insights from real-world datasets and </a:t>
            </a:r>
            <a:r>
              <a:rPr lang="en-IN" sz="2000" dirty="0" err="1"/>
              <a:t>analyzing</a:t>
            </a:r>
            <a:r>
              <a:rPr lang="en-IN" sz="2000" dirty="0"/>
              <a:t> market trends.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dirty="0"/>
              <a:t>📍 </a:t>
            </a:r>
            <a:r>
              <a:rPr lang="en-IN" sz="2000" b="1" dirty="0"/>
              <a:t>LinkedIn:</a:t>
            </a:r>
            <a:r>
              <a:rPr lang="en-IN" sz="2000" dirty="0"/>
              <a:t> </a:t>
            </a:r>
            <a:r>
              <a:rPr lang="en-IN" sz="2000" dirty="0">
                <a:hlinkClick r:id="rId2"/>
              </a:rPr>
              <a:t>www.linkedin.com/in/manikoushik-kuragayala-64aa81280</a:t>
            </a:r>
            <a:endParaRPr lang="en-IN" sz="2000" dirty="0"/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dirty="0"/>
              <a:t>💻 </a:t>
            </a:r>
            <a:r>
              <a:rPr lang="en-IN" sz="2000" b="1" dirty="0"/>
              <a:t>GitHub:</a:t>
            </a:r>
            <a:r>
              <a:rPr lang="en-IN" sz="2000" dirty="0"/>
              <a:t> </a:t>
            </a:r>
            <a:r>
              <a:rPr lang="en-IN" sz="2000" dirty="0">
                <a:hlinkClick r:id="rId3"/>
              </a:rPr>
              <a:t>https://github.com/manikoushik99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07" y="1380941"/>
            <a:ext cx="8458693" cy="41605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 err="1"/>
              <a:t>BikeWale</a:t>
            </a:r>
            <a:r>
              <a:rPr lang="en-US" sz="2000" dirty="0"/>
              <a:t> is one of India’s leading online platforms for comparing and reviewing motorcycles.</a:t>
            </a:r>
            <a:br>
              <a:rPr lang="en-US" sz="2000" dirty="0"/>
            </a:br>
            <a:r>
              <a:rPr lang="en-US" sz="2000" dirty="0"/>
              <a:t>It provides details such as </a:t>
            </a:r>
            <a:r>
              <a:rPr lang="en-US" sz="2000" b="1" dirty="0"/>
              <a:t>brand, model, price, engine capacity, mileage, power</a:t>
            </a:r>
            <a:r>
              <a:rPr lang="en-US" sz="2000" dirty="0"/>
              <a:t>, and </a:t>
            </a:r>
            <a:r>
              <a:rPr lang="en-US" sz="2000" b="1" dirty="0"/>
              <a:t>ratings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This project aims to </a:t>
            </a:r>
            <a:r>
              <a:rPr lang="en-US" sz="2000" b="1" dirty="0"/>
              <a:t>scrape data</a:t>
            </a:r>
            <a:r>
              <a:rPr lang="en-US" sz="2000" dirty="0"/>
              <a:t> from </a:t>
            </a:r>
            <a:r>
              <a:rPr lang="en-US" sz="2000" dirty="0" err="1"/>
              <a:t>BikeWale’s</a:t>
            </a:r>
            <a:r>
              <a:rPr lang="en-US" sz="2000" dirty="0"/>
              <a:t> website, clean and analyze it to uncover: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Brand-wise pricing patterns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Relationship between engine capacity, power, and mileage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Market trends in different bike segments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2" descr="BikeWale- Bikes &amp; Two Wheelers - Apps on Google Play">
            <a:extLst>
              <a:ext uri="{FF2B5EF4-FFF2-40B4-BE49-F238E27FC236}">
                <a16:creationId xmlns:a16="http://schemas.microsoft.com/office/drawing/2014/main" id="{81E9B34A-4C93-10AE-5CBD-2A0B7384A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283" y="361169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wo wheeler Sales in India FY 2023-24 | Analysis of Top Brands - Bikeleague  India">
            <a:extLst>
              <a:ext uri="{FF2B5EF4-FFF2-40B4-BE49-F238E27FC236}">
                <a16:creationId xmlns:a16="http://schemas.microsoft.com/office/drawing/2014/main" id="{51E4AB46-3E20-BB40-C365-091EF0765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2635" y="1730188"/>
            <a:ext cx="2748803" cy="424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9694" y="45818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0C8BC-0909-F492-E7AA-680F89DE1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892" y="1488956"/>
            <a:ext cx="3358914" cy="3172691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924600C5-044D-C176-BF22-48D234A81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545" y="1356323"/>
            <a:ext cx="7178243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Bike data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unstructured and difficult to compare  manually.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of centralized insights for pricing, performance, and mileage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 to identify brand-wise market segments and positioning.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Consumers face challenges balancing performance and affordability.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clear visibility into brand dominance across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competitive benchmarking for data-driven strategies.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analytical insights hinder marketing and pricing decisions.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270552-4980-5ABD-8501-147C6342D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16" y="1667313"/>
            <a:ext cx="9186654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extract and structure bike data from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 using web scraping.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clean and preprocess the dataset for accurate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visualize brand-wise and segment-wise market trends.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relationships between price, mileage, and engine capacity.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top-performing brands in different bike categories.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derive actionable insights for manufacturers and consumers.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demonstrate the complete data pipeline — scraping, cleaning, and EDA.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CEC0EB3-055C-C4E3-BD1A-5F61EB31F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36" y="924413"/>
            <a:ext cx="5375816" cy="539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Scrapes multiple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 (1–11)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BikeWale’s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bike listings.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data fields: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Name, Rating, Number of Ratings, Engine Details, Price, and Location.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parse HTML content and identify elements by their CSS classes.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missing values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np.nan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maintain data consistency.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all values into separate lists for each attribute.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them later into a structured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cleaning and EDA.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8E8988-E733-AC50-F69C-F960460C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594"/>
            <a:ext cx="5501477" cy="4571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3A5C7-4F1B-0566-C4FE-78D300FBF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29899"/>
            <a:ext cx="550147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620F3D7-1463-9E8E-2870-8CF05D057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2" y="850985"/>
            <a:ext cx="6599905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unwanted characters and symbols (₹, cc, kmpl) from text columns.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No. of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columns to numeric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combined details (like engine, mileage, type) into separate columns.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Replaced missing values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with appropriate defaults or averages.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inconsistent brand and model names for uniformity.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 entries and extra spaces from text fields.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data types and ensured correct formatting for analysis.</a:t>
            </a:r>
          </a:p>
        </p:txBody>
      </p:sp>
      <p:pic>
        <p:nvPicPr>
          <p:cNvPr id="6147" name="Picture 3" descr="Data Cleaning | Policy Cloud">
            <a:extLst>
              <a:ext uri="{FF2B5EF4-FFF2-40B4-BE49-F238E27FC236}">
                <a16:creationId xmlns:a16="http://schemas.microsoft.com/office/drawing/2014/main" id="{AAE59F19-CF1C-D50B-9338-FDC7DC79D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649" y="1774732"/>
            <a:ext cx="3133445" cy="313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696798" y="1088272"/>
            <a:ext cx="6161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Numerical Analysis: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8764005-3542-20F5-C056-4169A733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98" y="1689159"/>
            <a:ext cx="101692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boxplots show that most variables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Rating, Price,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Engine_CC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right-skewed distributions with several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high-value 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concentrated around 4.5,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Engine_CC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exhibit large variation, indicating diverse bike segments from budget to premium.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256F2F-2F9A-A60E-2B62-724974640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98" y="2967156"/>
            <a:ext cx="10535978" cy="337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7046259" cy="614589"/>
          </a:xfrm>
        </p:spPr>
        <p:txBody>
          <a:bodyPr>
            <a:no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Categorical Analysis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C394E-C359-521D-3202-88F37E7A7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63" y="2599765"/>
            <a:ext cx="10552140" cy="390346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8257A27-6BED-2E75-8E1A-F52C8E3A2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94" y="1114335"/>
            <a:ext cx="105521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bikes fall under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Luxury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price categories, showing dominance of extreme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mileage distribution,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mileage bikes are more common, indicating a market focus on balanced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B142-6BC3-B274-70ED-8C20D532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C8151-3C5B-745B-694D-4933782EC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41" y="1381686"/>
            <a:ext cx="4483473" cy="309002"/>
          </a:xfrm>
        </p:spPr>
        <p:txBody>
          <a:bodyPr>
            <a:no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1800" dirty="0"/>
              <a:t>Numerical vs numerical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AAB9F4E-17F8-8844-8FEB-38A7E3462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1" y="1859806"/>
            <a:ext cx="51831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scatter plot shows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positive correlation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engine capacity and power.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Engine_CC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rises significantly, indicating performance scaling with engine size.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AE15F0-BE8E-49F0-831A-6DF55BEF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1" y="3092731"/>
            <a:ext cx="4858968" cy="32142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913679-767B-10A2-5D84-4A3D49C80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423" y="3006726"/>
            <a:ext cx="4569056" cy="3226417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31BE9505-C8BC-E161-EC95-4FBBAD9AC945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6172203" y="1868012"/>
            <a:ext cx="537325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line plot shows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trend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indicating that bikes with higher power generally have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prices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fluctuations suggest that factors like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and features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influence pricing beyond engine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789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3A58-FFE8-77DB-7E8F-BC6214B4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dirty="0"/>
              <a:t>Numerical VS Categorical: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05409E-D0D8-71E3-D9F7-636AD378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80" y="2589547"/>
            <a:ext cx="5183188" cy="3686724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4733659A-0875-3769-029F-40BB0AC07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302588"/>
            <a:ext cx="491798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bar plot shows that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TVS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Honda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average mileage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dominating the commuter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brands like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KTM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Harley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lower mileage, reflecting a focus on performance over efficiency.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D54868-D1D2-9604-7611-70ECC53CA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607" y="2697840"/>
            <a:ext cx="3934374" cy="3667637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B4738433-2291-A9F5-86DB-5402064BB1FA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6105872" y="1358663"/>
            <a:ext cx="462510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pie chart shows that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Luxury bikes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 the highest share of total power (≈57%).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Mid-range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segments have much lower power output, emphasizing their focus on fuel efficiency over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47937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885A-0484-F8FD-1E0E-230F7E39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65816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800" dirty="0"/>
              <a:t>Categorical VS Categorical: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9820D-43F0-D43D-B44B-EF485C8F1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36" y="3114773"/>
            <a:ext cx="5008736" cy="307489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3DF8FF0-90AF-BFE7-1516-63A5CBA3C8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8" y="1400622"/>
            <a:ext cx="466508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heatmap shows that brands like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Yamaha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TVS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Mid-range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brands such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Ducati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Kawasaki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Royal Enfield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concentrated in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Luxury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segment, highlighting clear market segmentation.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2552F1-D2A3-E022-2138-31395898A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730" y="3114773"/>
            <a:ext cx="4271691" cy="307489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D807A4CE-BA81-73E8-1EDF-F5F355EB0DE4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6172200" y="1508343"/>
            <a:ext cx="477289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Bikes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Excellent ratings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mostly fall under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mileage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suggests that higher-rated bikes prioritize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and quality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extreme fuel efficiency.</a:t>
            </a:r>
          </a:p>
        </p:txBody>
      </p:sp>
    </p:spTree>
    <p:extLst>
      <p:ext uri="{BB962C8B-B14F-4D97-AF65-F5344CB8AC3E}">
        <p14:creationId xmlns:p14="http://schemas.microsoft.com/office/powerpoint/2010/main" val="3122635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3027-C930-D110-A9A7-16F1556F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6499"/>
          </a:xfrm>
        </p:spPr>
        <p:txBody>
          <a:bodyPr>
            <a:normAutofit/>
          </a:bodyPr>
          <a:lstStyle/>
          <a:p>
            <a:r>
              <a:rPr lang="en-IN" sz="3200" dirty="0"/>
              <a:t>Multivariate Analysis: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091AF8-92E2-BC94-DDB2-31A0DCF6D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63" y="2745431"/>
            <a:ext cx="5195405" cy="3511934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54BAFEF-2E64-D526-3E7F-AB3BD50F4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9789" y="1508343"/>
            <a:ext cx="499623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Luxury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bikes exhibit higher power and weight,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to Medium mileage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Mid-range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 show lower power but better mileage consistency, reflecting efficiency-focused design.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67A556-836C-94FA-693C-F42137A16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32" y="2745431"/>
            <a:ext cx="4846279" cy="3534306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A8A8B60-E65D-DCE3-6ABF-BF6585227D46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6172200" y="1508344"/>
            <a:ext cx="499623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heatmap shows that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 bikes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average mileage (71 kmpl)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Luxury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bikes show lower mileage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highlights a clear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relationship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price and fuel efficiency across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15728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A0CE-8274-A1F5-3A9F-98D98152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41" y="100387"/>
            <a:ext cx="7763435" cy="89469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B6E367-D198-5CF3-CBCC-DFF2FBDC1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76" y="1845980"/>
            <a:ext cx="929640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the most bike models in the Indian market?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 capacity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(Budget, Mid-range, High-end, Luxury) dominates the market?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 vary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different brands and price categories?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brands or segments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mileage-to-price ratio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correlate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levels?</a:t>
            </a:r>
          </a:p>
        </p:txBody>
      </p:sp>
    </p:spTree>
    <p:extLst>
      <p:ext uri="{BB962C8B-B14F-4D97-AF65-F5344CB8AC3E}">
        <p14:creationId xmlns:p14="http://schemas.microsoft.com/office/powerpoint/2010/main" val="220944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1D667F6-BE78-9D8E-6CCD-77AD41D1E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64" y="1157194"/>
            <a:ext cx="10889129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 capacity and power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a strong positive correlation — higher CC bikes deliver greater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Luxury and high-end bikes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 power output but have lower mileage, focusing on performance over efficiency.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 and mid-range segments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the best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 and affordability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appealing to most consumers.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Hero, Honda, and TVS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 in fuel-efficient bikes,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Royal Enfield and KTM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 premium categories.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and mileage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exhibit an inverse relationship — as price increases, mileage tends to decrease.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Indian bike market reflects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divide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commuter-focused and performance-driven brands.</a:t>
            </a: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F3F487-C4EC-3CC7-8B51-03968C6D4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447" y="1572701"/>
            <a:ext cx="950258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using Python libraries —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structured details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Name, Brand, Price, Mileage, and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standardized data using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accurate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uncover trends in pricing, mileage, and performance across brands.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visualizations (boxplots, scatterplots, heatmaps) for insight communication.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end-to-end workflow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Scraping → Cleaning → Analysis → Visualization →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EB24A7-5325-4D10-5F4B-17BEC0C6C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70" y="1731983"/>
            <a:ext cx="9861176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structures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pages caused parsing difficulties.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Encountered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or hidden fields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price and mileage for some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Had to manage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entries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inconsistent brand naming.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 numeric data was tricky due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symbols and mixed text formats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(₹, cc, kmpl).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anti-scraping restrictions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limiting multiple page requests.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meaningful visualizations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convey insights effectively was challenging.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Thank You Images – Browse 2,210,421 Stock Photos, Vectors, and Video |  Adobe Stock">
            <a:extLst>
              <a:ext uri="{FF2B5EF4-FFF2-40B4-BE49-F238E27FC236}">
                <a16:creationId xmlns:a16="http://schemas.microsoft.com/office/drawing/2014/main" id="{B6ED29F4-D2BB-3E79-EBBF-D7395525F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384" y="1972795"/>
            <a:ext cx="5895134" cy="235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1220</Words>
  <Application>Microsoft Office PowerPoint</Application>
  <PresentationFormat>Widescreen</PresentationFormat>
  <Paragraphs>101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Times New Roman</vt:lpstr>
      <vt:lpstr>Calibri</vt:lpstr>
      <vt:lpstr>Arial</vt:lpstr>
      <vt:lpstr>Arial Unicode MS</vt:lpstr>
      <vt:lpstr>Office Theme</vt:lpstr>
      <vt:lpstr>PowerPoint Presentation</vt:lpstr>
      <vt:lpstr>About Me: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Univariate Categorical Analysis</vt:lpstr>
      <vt:lpstr>Bivariate Analysis</vt:lpstr>
      <vt:lpstr>Numerical VS Categorical:</vt:lpstr>
      <vt:lpstr>Categorical VS Categorical:</vt:lpstr>
      <vt:lpstr>Multivariate Analysis:</vt:lpstr>
      <vt:lpstr>Key Business Questions</vt:lpstr>
      <vt:lpstr>Conclusion: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Mani Koushik</cp:lastModifiedBy>
  <cp:revision>40</cp:revision>
  <dcterms:created xsi:type="dcterms:W3CDTF">2021-02-16T05:19:01Z</dcterms:created>
  <dcterms:modified xsi:type="dcterms:W3CDTF">2025-11-08T06:06:33Z</dcterms:modified>
</cp:coreProperties>
</file>